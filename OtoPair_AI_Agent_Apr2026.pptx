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299F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5299F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9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OTOPAIR ENGINEERING  · 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12344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Oto AI Agent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502920" y="26060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rule-based patterns with a Claude-powered conversational agent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Convex — server-side, secure, and deeply aware of your vehicles.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" y="3931920"/>
            <a:ext cx="2468880" cy="77724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" y="393192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667512" y="39593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Phases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67512" y="43068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roadmap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3931920"/>
            <a:ext cx="2468880" cy="77724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393192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3410712" y="39593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Tools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410712" y="43068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can call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89320" y="3931920"/>
            <a:ext cx="2468880" cy="77724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89320" y="393192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6153912" y="39593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Files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153912" y="43068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launch Phase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Rules to Intelligence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replacing the scenario engine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438912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State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09928"/>
            <a:ext cx="4114800" cy="4754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7465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64208" y="1746504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pattern matching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4114800" cy="475488"/>
          </a:xfrm>
          <a:prstGeom prst="rect">
            <a:avLst/>
          </a:prstGeom>
          <a:solidFill>
            <a:srgbClr val="18203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22768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64208" y="2276856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only, no persistence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770632"/>
            <a:ext cx="4114800" cy="4754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8072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64208" y="2807208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 + Convex queries in components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300984"/>
            <a:ext cx="4114800" cy="475488"/>
          </a:xfrm>
          <a:prstGeom prst="rect">
            <a:avLst/>
          </a:prstGeom>
          <a:solidFill>
            <a:srgbClr val="18203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33375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64208" y="333756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hardcoded (oil change, brake noise…)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831336"/>
            <a:ext cx="4114800" cy="4754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8679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664208" y="3867912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triggers useBookingStore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361688"/>
            <a:ext cx="4114800" cy="475488"/>
          </a:xfrm>
          <a:prstGeom prst="rect">
            <a:avLst/>
          </a:prstGeom>
          <a:solidFill>
            <a:srgbClr val="182030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43982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664208" y="4398264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fully client-side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1188720"/>
            <a:ext cx="4114800" cy="438912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1887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State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09160" y="1709928"/>
            <a:ext cx="4114800" cy="4754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7" name="Text 25"/>
          <p:cNvSpPr/>
          <p:nvPr/>
        </p:nvSpPr>
        <p:spPr>
          <a:xfrm>
            <a:off x="4818888" y="17465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07608" y="1746504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claude-sonnet-4-6 with tool use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2240280"/>
            <a:ext cx="4114800" cy="475488"/>
          </a:xfrm>
          <a:prstGeom prst="rect">
            <a:avLst/>
          </a:prstGeom>
          <a:solidFill>
            <a:srgbClr val="182030"/>
          </a:solidFill>
          <a:ln/>
        </p:spPr>
      </p:sp>
      <p:sp>
        <p:nvSpPr>
          <p:cNvPr id="30" name="Text 28"/>
          <p:cNvSpPr/>
          <p:nvPr/>
        </p:nvSpPr>
        <p:spPr>
          <a:xfrm>
            <a:off x="4818888" y="22768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07608" y="2276856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Server-side, persisted in ai_conversations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2770632"/>
            <a:ext cx="4114800" cy="4754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3" name="Text 31"/>
          <p:cNvSpPr/>
          <p:nvPr/>
        </p:nvSpPr>
        <p:spPr>
          <a:xfrm>
            <a:off x="4818888" y="28072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07608" y="2807208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calls Convex tools (auth enforced)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3300984"/>
            <a:ext cx="4114800" cy="475488"/>
          </a:xfrm>
          <a:prstGeom prst="rect">
            <a:avLst/>
          </a:prstGeom>
          <a:solidFill>
            <a:srgbClr val="182030"/>
          </a:solidFill>
          <a:ln/>
        </p:spPr>
      </p:sp>
      <p:sp>
        <p:nvSpPr>
          <p:cNvPr id="36" name="Text 34"/>
          <p:cNvSpPr/>
          <p:nvPr/>
        </p:nvSpPr>
        <p:spPr>
          <a:xfrm>
            <a:off x="4818888" y="33375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07608" y="333756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natural language understanding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09160" y="3831336"/>
            <a:ext cx="4114800" cy="4754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9" name="Text 37"/>
          <p:cNvSpPr/>
          <p:nvPr/>
        </p:nvSpPr>
        <p:spPr>
          <a:xfrm>
            <a:off x="4818888" y="38679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007608" y="3867912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invokes create_booking → mutation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09160" y="4361688"/>
            <a:ext cx="4114800" cy="475488"/>
          </a:xfrm>
          <a:prstGeom prst="rect">
            <a:avLst/>
          </a:prstGeom>
          <a:solidFill>
            <a:srgbClr val="182030"/>
          </a:solidFill>
          <a:ln/>
        </p:spPr>
      </p:sp>
      <p:sp>
        <p:nvSpPr>
          <p:cNvPr id="42" name="Text 40"/>
          <p:cNvSpPr/>
          <p:nvPr/>
        </p:nvSpPr>
        <p:spPr>
          <a:xfrm>
            <a:off x="4818888" y="43982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007608" y="4398264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for appointments only, no delete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Oto AI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 → Convex Action → Claude → tool loop → persisted response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554480" cy="324612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1554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325880"/>
            <a:ext cx="457200" cy="45720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93192" y="2487168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Message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3192" y="301752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tab sends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useMutation("otoAI:chat")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920240" y="2788920"/>
            <a:ext cx="2743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21408" y="26974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203704" y="1188720"/>
            <a:ext cx="1554480" cy="324612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03704" y="1188720"/>
            <a:ext cx="1554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2"/>
          <p:cNvSpPr/>
          <p:nvPr/>
        </p:nvSpPr>
        <p:spPr>
          <a:xfrm>
            <a:off x="2752344" y="1325880"/>
            <a:ext cx="457200" cy="45720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2752344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344" y="192024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276856" y="2487168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Convex Action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276856" y="301752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user context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messages array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803904" y="2788920"/>
            <a:ext cx="2743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005072" y="26974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087368" y="1188720"/>
            <a:ext cx="1554480" cy="324612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087368" y="1188720"/>
            <a:ext cx="1554480" cy="54864"/>
          </a:xfrm>
          <a:prstGeom prst="rect">
            <a:avLst/>
          </a:prstGeom>
          <a:solidFill>
            <a:srgbClr val="5299FE"/>
          </a:solidFill>
          <a:ln/>
        </p:spPr>
      </p:sp>
      <p:sp>
        <p:nvSpPr>
          <p:cNvPr id="24" name="Shape 20"/>
          <p:cNvSpPr/>
          <p:nvPr/>
        </p:nvSpPr>
        <p:spPr>
          <a:xfrm>
            <a:off x="4636008" y="1325880"/>
            <a:ext cx="457200" cy="457200"/>
          </a:xfrm>
          <a:prstGeom prst="ellipse">
            <a:avLst/>
          </a:prstGeom>
          <a:solidFill>
            <a:srgbClr val="5299FE">
              <a:alpha val="8500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463600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92024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160520" y="2487168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API Call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160520" y="301752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claude-sonnet-4-6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7 defined tools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5687568" y="2788920"/>
            <a:ext cx="2743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888736" y="26974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5971032" y="1188720"/>
            <a:ext cx="1554480" cy="324612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5971032" y="1188720"/>
            <a:ext cx="1554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Shape 28"/>
          <p:cNvSpPr/>
          <p:nvPr/>
        </p:nvSpPr>
        <p:spPr>
          <a:xfrm>
            <a:off x="6519672" y="1325880"/>
            <a:ext cx="457200" cy="45720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651967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1920240"/>
            <a:ext cx="457200" cy="4572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044184" y="2487168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Loop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6044184" y="301752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calls tools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answer is ready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7571232" y="2788920"/>
            <a:ext cx="2743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772400" y="26974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7854696" y="1188720"/>
            <a:ext cx="1554480" cy="324612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7854696" y="1188720"/>
            <a:ext cx="1554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Shape 36"/>
          <p:cNvSpPr/>
          <p:nvPr/>
        </p:nvSpPr>
        <p:spPr>
          <a:xfrm>
            <a:off x="8403336" y="1325880"/>
            <a:ext cx="457200" cy="45720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43" name="Text 37"/>
          <p:cNvSpPr/>
          <p:nvPr/>
        </p:nvSpPr>
        <p:spPr>
          <a:xfrm>
            <a:off x="840333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1920240"/>
            <a:ext cx="457200" cy="45720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7927848" y="2487168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Persisted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7927848" y="301752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ai_messages saved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returned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48" name="Text 41"/>
          <p:cNvSpPr/>
          <p:nvPr/>
        </p:nvSpPr>
        <p:spPr>
          <a:xfrm>
            <a:off x="457200" y="46360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Key constraint: Claude NEVER touches the DB directly — every read and write goes through a Convex tool handler that enforces auth + permission rules.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Tools Claude Can Call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in convex/otoAITools.ts — READ-only + controlled WRITE, no delete tools, ever.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9768" y="1143000"/>
            <a:ext cx="1920240" cy="173736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2825496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1636776" y="1234440"/>
            <a:ext cx="621792" cy="237744"/>
          </a:xfrm>
          <a:prstGeom prst="rect">
            <a:avLst/>
          </a:prstGeom>
          <a:solidFill>
            <a:srgbClr val="0D9488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636776" y="123444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7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25272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208" y="17099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get_user_vehicles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21208" y="21671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user's vehicles with health score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51176" y="1143000"/>
            <a:ext cx="1920240" cy="173736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51176" y="2825496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0"/>
          <p:cNvSpPr/>
          <p:nvPr/>
        </p:nvSpPr>
        <p:spPr>
          <a:xfrm>
            <a:off x="3758184" y="1234440"/>
            <a:ext cx="621792" cy="237744"/>
          </a:xfrm>
          <a:prstGeom prst="rect">
            <a:avLst/>
          </a:prstGeom>
          <a:solidFill>
            <a:srgbClr val="0D9488">
              <a:alpha val="7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3758184" y="123444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7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04" y="1252728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42616" y="17099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search_mechanics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2642616" y="21671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mechanics by service, location, distance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72584" y="1143000"/>
            <a:ext cx="1920240" cy="173736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72584" y="2825496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6"/>
          <p:cNvSpPr/>
          <p:nvPr/>
        </p:nvSpPr>
        <p:spPr>
          <a:xfrm>
            <a:off x="5879592" y="1234440"/>
            <a:ext cx="621792" cy="237744"/>
          </a:xfrm>
          <a:prstGeom prst="rect">
            <a:avLst/>
          </a:prstGeom>
          <a:solidFill>
            <a:srgbClr val="0D9488">
              <a:alpha val="75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5879592" y="123444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7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1252728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64024" y="17099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search_shops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4764024" y="21671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shops with labor rate + rating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793992" y="1143000"/>
            <a:ext cx="1920240" cy="173736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793992" y="2825496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Shape 22"/>
          <p:cNvSpPr/>
          <p:nvPr/>
        </p:nvSpPr>
        <p:spPr>
          <a:xfrm>
            <a:off x="8001000" y="1234440"/>
            <a:ext cx="621792" cy="237744"/>
          </a:xfrm>
          <a:prstGeom prst="rect">
            <a:avLst/>
          </a:prstGeom>
          <a:solidFill>
            <a:srgbClr val="0D9488">
              <a:alpha val="7500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8001000" y="123444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75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252728"/>
            <a:ext cx="347472" cy="3474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85432" y="17099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get_available_slots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6885432" y="21671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time slots for a shop/mechanic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1490472" y="3108960"/>
            <a:ext cx="1920240" cy="173736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490472" y="4791456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Shape 28"/>
          <p:cNvSpPr/>
          <p:nvPr/>
        </p:nvSpPr>
        <p:spPr>
          <a:xfrm>
            <a:off x="2697480" y="3200400"/>
            <a:ext cx="621792" cy="237744"/>
          </a:xfrm>
          <a:prstGeom prst="rect">
            <a:avLst/>
          </a:prstGeom>
          <a:solidFill>
            <a:srgbClr val="0D9488">
              <a:alpha val="7500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2697480" y="320040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75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3218688"/>
            <a:ext cx="347472" cy="34747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581912" y="36758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get_user_bookings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1581912" y="41330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10 bookings for the authenticated user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3611880" y="3108960"/>
            <a:ext cx="1920240" cy="173736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611880" y="4791456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Shape 34"/>
          <p:cNvSpPr/>
          <p:nvPr/>
        </p:nvSpPr>
        <p:spPr>
          <a:xfrm>
            <a:off x="4818888" y="3200400"/>
            <a:ext cx="621792" cy="237744"/>
          </a:xfrm>
          <a:prstGeom prst="rect">
            <a:avLst/>
          </a:prstGeom>
          <a:solidFill>
            <a:srgbClr val="0D9488">
              <a:alpha val="75000"/>
            </a:srgbClr>
          </a:solidFill>
          <a:ln/>
        </p:spPr>
      </p:sp>
      <p:sp>
        <p:nvSpPr>
          <p:cNvPr id="42" name="Text 35"/>
          <p:cNvSpPr/>
          <p:nvPr/>
        </p:nvSpPr>
        <p:spPr>
          <a:xfrm>
            <a:off x="4818888" y="320040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75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1608" y="3218688"/>
            <a:ext cx="347472" cy="34747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703320" y="36758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get_service_catalog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3703320" y="41330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available services with cost estimates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5733288" y="3108960"/>
            <a:ext cx="1920240" cy="173736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5733288" y="4791456"/>
            <a:ext cx="1920240" cy="54864"/>
          </a:xfrm>
          <a:prstGeom prst="rect">
            <a:avLst/>
          </a:prstGeom>
          <a:solidFill>
            <a:srgbClr val="5299FE"/>
          </a:solidFill>
          <a:ln/>
        </p:spPr>
      </p:sp>
      <p:sp>
        <p:nvSpPr>
          <p:cNvPr id="48" name="Shape 40"/>
          <p:cNvSpPr/>
          <p:nvPr/>
        </p:nvSpPr>
        <p:spPr>
          <a:xfrm>
            <a:off x="6940296" y="3200400"/>
            <a:ext cx="621792" cy="237744"/>
          </a:xfrm>
          <a:prstGeom prst="rect">
            <a:avLst/>
          </a:prstGeom>
          <a:solidFill>
            <a:srgbClr val="5299FE">
              <a:alpha val="75000"/>
            </a:srgbClr>
          </a:solidFill>
          <a:ln/>
        </p:spPr>
      </p:sp>
      <p:sp>
        <p:nvSpPr>
          <p:cNvPr id="49" name="Text 41"/>
          <p:cNvSpPr/>
          <p:nvPr/>
        </p:nvSpPr>
        <p:spPr>
          <a:xfrm>
            <a:off x="6940296" y="320040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750" dirty="0"/>
          </a:p>
        </p:txBody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3016" y="3218688"/>
            <a:ext cx="347472" cy="34747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5824728" y="36758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9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create_booking</a:t>
            </a:r>
            <a:endParaRPr lang="en-US" sz="950" dirty="0"/>
          </a:p>
        </p:txBody>
      </p:sp>
      <p:sp>
        <p:nvSpPr>
          <p:cNvPr id="52" name="Text 43"/>
          <p:cNvSpPr/>
          <p:nvPr/>
        </p:nvSpPr>
        <p:spPr>
          <a:xfrm>
            <a:off x="5824728" y="41330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appointment (auth + ownership validated)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Enrichment Pipeline Fixes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bugs ship before we launch the agent — cleaner data means better AI responses.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86868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7957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6002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9786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 drivetrain boolean/fluid mismatch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15453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upsertDrivetrainConfig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349240" y="1252728"/>
            <a:ext cx="0" cy="65836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12161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486400" y="1417320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incorrect service recommendations for AWD/4WD vehicles.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" y="2103120"/>
            <a:ext cx="8412480" cy="86868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210312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213969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256032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05840" y="2157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 battery string → group + type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005840" y="25054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parseBatch1a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349240" y="2212848"/>
            <a:ext cx="0" cy="65836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86400" y="21762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5486400" y="2377440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accurate battery fitment lookup by group number (H8, Group 49).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65760" y="3063240"/>
            <a:ext cx="8412480" cy="86868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65760" y="306324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0"/>
          <p:cNvSpPr/>
          <p:nvPr/>
        </p:nvSpPr>
        <p:spPr>
          <a:xfrm>
            <a:off x="502920" y="309981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52044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05840" y="311810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 getQuotableLaborTime into booking flow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1005840" y="34655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service selection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5349240" y="3172968"/>
            <a:ext cx="0" cy="65836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486400" y="313639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5486400" y="3337560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can use accurate labor times to set expectations and suggest slot lengths.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365760" y="4023360"/>
            <a:ext cx="8412480" cy="86868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365760" y="402336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28"/>
          <p:cNvSpPr/>
          <p:nvPr/>
        </p:nvSpPr>
        <p:spPr>
          <a:xfrm>
            <a:off x="502920" y="405993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4480560"/>
            <a:ext cx="274320" cy="27432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005840" y="40782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and fix fill rate denominator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1005840" y="44256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V4_FIELD_KEYS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5349240" y="4133088"/>
            <a:ext cx="0" cy="65836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5486400" y="40965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50" dirty="0"/>
          </a:p>
        </p:txBody>
      </p:sp>
      <p:sp>
        <p:nvSpPr>
          <p:cNvPr id="39" name="Text 33"/>
          <p:cNvSpPr/>
          <p:nvPr/>
        </p:nvSpPr>
        <p:spPr>
          <a:xfrm>
            <a:off x="5486400" y="4297680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fill rates drive enrichment decisions — don't re-enrich 95% complete configs.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 — New Agent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v3pipeline.ts with a smarter, tool-calling enrichment agent.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1143000"/>
            <a:ext cx="1269710" cy="438912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1143000"/>
            <a:ext cx="1269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NHTSA Decode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306286" y="1143000"/>
            <a:ext cx="1269710" cy="438912"/>
          </a:xfrm>
          <a:prstGeom prst="rect">
            <a:avLst/>
          </a:prstGeom>
          <a:solidFill>
            <a:srgbClr val="5299FE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06286" y="1143000"/>
            <a:ext cx="1269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Normalize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12571" y="1143000"/>
            <a:ext cx="1269710" cy="438912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612571" y="1143000"/>
            <a:ext cx="1269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 Bootstrap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18857" y="1143000"/>
            <a:ext cx="1269710" cy="438912"/>
          </a:xfrm>
          <a:prstGeom prst="rect">
            <a:avLst/>
          </a:prstGeom>
          <a:solidFill>
            <a:srgbClr val="5299FE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918857" y="1143000"/>
            <a:ext cx="1269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 × 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25143" y="1143000"/>
            <a:ext cx="1269710" cy="438912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225143" y="1143000"/>
            <a:ext cx="1269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Validate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31429" y="1143000"/>
            <a:ext cx="1269710" cy="438912"/>
          </a:xfrm>
          <a:prstGeom prst="rect">
            <a:avLst/>
          </a:prstGeom>
          <a:solidFill>
            <a:srgbClr val="5299FE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531429" y="1143000"/>
            <a:ext cx="1269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write_fields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837714" y="1143000"/>
            <a:ext cx="1269710" cy="438912"/>
          </a:xfrm>
          <a:prstGeom prst="rect">
            <a:avLst/>
          </a:prstGeom>
          <a:solidFill>
            <a:srgbClr val="10B981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837714" y="1143000"/>
            <a:ext cx="1269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1719072"/>
            <a:ext cx="1664208" cy="306324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234440" y="1810512"/>
            <a:ext cx="566928" cy="237744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181051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38328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212140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agentPrompts.ts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24688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Prompt Builder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072384"/>
            <a:ext cx="14813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Constructs the system prompt with domain rules, vehicle context, tool descriptions, and guardrails. Includes few-shot examples for booking flow.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84248" y="1719072"/>
            <a:ext cx="1664208" cy="306324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90088" y="1810512"/>
            <a:ext cx="566928" cy="237744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990088" y="181051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093976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075688" y="212140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siblingBootstrap.ts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75688" y="24688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Sibling Seed Queries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75688" y="3072384"/>
            <a:ext cx="14813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same-chassis sibling configs to pre-populate engine + drivetrain context before the Claude loop starts. Reduces tool calls by front-loading known data.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39896" y="1719072"/>
            <a:ext cx="1664208" cy="306324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45736" y="1810512"/>
            <a:ext cx="566928" cy="237744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745736" y="181051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49624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831336" y="212140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9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agentTools.ts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31336" y="24688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Definitions + write_fields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831336" y="3072384"/>
            <a:ext cx="14813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all tool schemas for Claude and the write_fields handler that commits enrichment data. Central bottleneck — everything routes through here.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95544" y="1719072"/>
            <a:ext cx="1664208" cy="306324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501384" y="1810512"/>
            <a:ext cx="566928" cy="237744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501384" y="181051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605272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586984" y="212140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9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agentPipeline.ts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86984" y="24688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Orchestrator Action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586984" y="3072384"/>
            <a:ext cx="14813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 → Claude loop × 3 per group. Replaces the v3 batch system with a streaming agent that refines its own answers before committing.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251192" y="1719072"/>
            <a:ext cx="1664208" cy="306324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257032" y="1810512"/>
            <a:ext cx="566928" cy="237744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257032" y="181051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7360920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342632" y="212140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9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vehicle_pipeline.ts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42632" y="24688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 + Retire v3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42632" y="3072384"/>
            <a:ext cx="14813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runPublic.ts → agentPipeline. Stop scheduling v3pipeline.ts. Preserve the file but remove it from all cron triggers. Integration test: 2021 Kia Seltos ≥ 80% fill.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 — Deprecation Cleanup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code costs tokens, slows onboarding, and creates confusion. Cut it clean.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09728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64008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3703320" y="1261872"/>
            <a:ext cx="594360" cy="219456"/>
          </a:xfrm>
          <a:prstGeom prst="rect">
            <a:avLst/>
          </a:prstGeom>
          <a:solidFill>
            <a:srgbClr val="EF4444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703320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9844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2801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 stub files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16642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vehicle_specs.ts · service_insights.ts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manual_review_queue.ts · ai_enrichment_logs.ts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2432304"/>
            <a:ext cx="4023360" cy="109728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432304"/>
            <a:ext cx="64008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2505456"/>
            <a:ext cx="594360" cy="219456"/>
          </a:xfrm>
          <a:prstGeom prst="rect">
            <a:avLst/>
          </a:prstGeom>
          <a:solidFill>
            <a:srgbClr val="EF4444">
              <a:alpha val="7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3703320" y="250545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7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54203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0120" y="252374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 dead helpers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960120" y="290779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enrichVehicleSpecs + dead helper functions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vehicle_pipeline.ts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65760" y="3675888"/>
            <a:ext cx="4023360" cy="109728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3675888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6"/>
          <p:cNvSpPr/>
          <p:nvPr/>
        </p:nvSpPr>
        <p:spPr>
          <a:xfrm>
            <a:off x="3703320" y="3749040"/>
            <a:ext cx="594360" cy="219456"/>
          </a:xfrm>
          <a:prstGeom prst="rect">
            <a:avLst/>
          </a:prstGeom>
          <a:solidFill>
            <a:srgbClr val="F59E0B">
              <a:alpha val="75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3703320" y="374904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</a:t>
            </a:r>
            <a:endParaRPr lang="en-US" sz="7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785616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60120" y="37673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migrateToChassisSpecs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960120" y="415137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all @deprecated fields to chassis_specs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migration action, preserve history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754880" y="1188720"/>
            <a:ext cx="4023360" cy="109728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54880" y="1188720"/>
            <a:ext cx="64008" cy="1097280"/>
          </a:xfrm>
          <a:prstGeom prst="rect">
            <a:avLst/>
          </a:prstGeom>
          <a:solidFill>
            <a:srgbClr val="5299FE"/>
          </a:solidFill>
          <a:ln/>
        </p:spPr>
      </p:sp>
      <p:sp>
        <p:nvSpPr>
          <p:cNvPr id="27" name="Shape 22"/>
          <p:cNvSpPr/>
          <p:nvPr/>
        </p:nvSpPr>
        <p:spPr>
          <a:xfrm>
            <a:off x="8092440" y="1261872"/>
            <a:ext cx="594360" cy="219456"/>
          </a:xfrm>
          <a:prstGeom prst="rect">
            <a:avLst/>
          </a:prstGeom>
          <a:solidFill>
            <a:srgbClr val="5299FE">
              <a:alpha val="7500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8092440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7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298448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349240" y="12801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vehicle_mutations.ts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349240" y="16642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+ remove all references to deprecated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before schema field removal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4754880" y="2432304"/>
            <a:ext cx="4023360" cy="109728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754880" y="2432304"/>
            <a:ext cx="64008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Shape 28"/>
          <p:cNvSpPr/>
          <p:nvPr/>
        </p:nvSpPr>
        <p:spPr>
          <a:xfrm>
            <a:off x="8092440" y="2505456"/>
            <a:ext cx="594360" cy="219456"/>
          </a:xfrm>
          <a:prstGeom prst="rect">
            <a:avLst/>
          </a:prstGeom>
          <a:solidFill>
            <a:srgbClr val="EF4444">
              <a:alpha val="7500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8092440" y="250545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7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542032"/>
            <a:ext cx="320040" cy="32004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349240" y="252374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 @deprecated schema fields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5349240" y="290779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migration confirmed — remove stale field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from convex/schema.ts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40" name="Text 33"/>
          <p:cNvSpPr/>
          <p:nvPr/>
        </p:nvSpPr>
        <p:spPr>
          <a:xfrm>
            <a:off x="502920" y="46634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Outcome: Fewer files means Claude's context window focuses on live, relevant code — not dead stubs. Faster onboarding for new devs too.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Guardrails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constrained by design — every action is mediated through Convex auth.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77640" cy="86868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64008" cy="8686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9903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1615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on every tool call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156362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ctx.auth.getUserIdentity() called in every Convex tool handler — reject if unauthenticated.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983480" y="1143000"/>
            <a:ext cx="3977640" cy="86868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1143000"/>
            <a:ext cx="64008" cy="8686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139903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21615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Ownership validation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623560" y="156362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create_booking checks vehicle_owners.user_id === authenticatedUser before inserting.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65760" y="2148840"/>
            <a:ext cx="3977640" cy="86868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148840"/>
            <a:ext cx="64008" cy="8686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40487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222199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delete tools — ever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05840" y="256946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delete-capable tool is defined. Claude literally cannot call what doesn't exist.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983480" y="2148840"/>
            <a:ext cx="3977640" cy="86868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83480" y="214884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240487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222199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623560" y="256946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50 Claude AI chat messages per user per day. Enforced via Convex rate limit check in otoAI.ts.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65760" y="3154680"/>
            <a:ext cx="3977640" cy="86868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5760" y="315468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41071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5840" y="322783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injection detection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005840" y="357530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'ignore previous instructions', 'system:' patterns — log and short-circuit with safe reply.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4983480" y="3154680"/>
            <a:ext cx="3977640" cy="86868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983480" y="3154680"/>
            <a:ext cx="64008" cy="868680"/>
          </a:xfrm>
          <a:prstGeom prst="rect">
            <a:avLst/>
          </a:prstGeom>
          <a:solidFill>
            <a:srgbClr val="5299F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072" y="3410712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623560" y="322783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 guardrail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623560" y="357530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only discusses auto repair, vehicle health, and OtoPair services. Off-topic → redirect.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365760" y="4160520"/>
            <a:ext cx="3977640" cy="86868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365760" y="4160520"/>
            <a:ext cx="64008" cy="8686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4416552"/>
            <a:ext cx="347472" cy="34747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05840" y="423367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key never in frontend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1005840" y="458114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ANTHROPIC_API_KEY stored in Convex env variables only — never exposed to client code.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4983480" y="4160520"/>
            <a:ext cx="3977640" cy="86868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983480" y="4160520"/>
            <a:ext cx="64008" cy="868680"/>
          </a:xfrm>
          <a:prstGeom prst="rect">
            <a:avLst/>
          </a:prstGeom>
          <a:solidFill>
            <a:srgbClr val="5299FE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8072" y="4416552"/>
            <a:ext cx="347472" cy="34747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623560" y="423367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cap + sanitization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5623560" y="458114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2000 chars per user message. Strip HTML and dangerous patterns before sending to Claude.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compounding bets — each one reinforces the others.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51760" cy="374904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2651760" cy="54864"/>
          </a:xfrm>
          <a:prstGeom prst="rect">
            <a:avLst/>
          </a:prstGeom>
          <a:solidFill>
            <a:srgbClr val="5299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132588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110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User Experience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4414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299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∞ scenarios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57200" y="3026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7 hardcoded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3355848"/>
            <a:ext cx="210312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47472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9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NL replaces brittle pattern matching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30352" y="3803904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9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follow-up questions for vague symptoms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30352" y="413308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9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Vehicle-specific recommendations, not generic advice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30352" y="446227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9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flow completes in one conversation thread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00400" y="1143000"/>
            <a:ext cx="2651760" cy="374904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114300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1325880"/>
            <a:ext cx="475488" cy="4754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91840" y="19110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Smarter Enrichment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291840" y="24414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≥80% fill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3291840" y="3026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target per config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474720" y="3355848"/>
            <a:ext cx="210312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364992" y="347472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refines its own answers before committing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3364992" y="3803904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 bootstrap cuts FireCrawl calls per run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3364992" y="413308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write_fields centralizes data quality enforcement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364992" y="446227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savings from fixed denominator + dedup fields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6035040" y="1143000"/>
            <a:ext cx="2651760" cy="374904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035040" y="114300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1325880"/>
            <a:ext cx="475488" cy="47548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126480" y="19110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Velocity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126480" y="24414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files</a:t>
            </a:r>
            <a:endParaRPr lang="en-US" sz="3200" dirty="0"/>
          </a:p>
        </p:txBody>
      </p:sp>
      <p:sp>
        <p:nvSpPr>
          <p:cNvPr id="31" name="Text 26"/>
          <p:cNvSpPr/>
          <p:nvPr/>
        </p:nvSpPr>
        <p:spPr>
          <a:xfrm>
            <a:off x="6126480" y="3026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ship Phase 1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6309360" y="3355848"/>
            <a:ext cx="210312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199632" y="347472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schema changes — ai_conversations already exists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6199632" y="3803904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SDK already installed in the codebase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6199632" y="413308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Deprecation cleanup removes ~4 stale stub files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6199632" y="446227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integration test (Kia Seltos) validates the whole chain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3200400"/>
            <a:ext cx="4572000" cy="4572000"/>
          </a:xfrm>
          <a:prstGeom prst="ellipse">
            <a:avLst/>
          </a:prstGeom>
          <a:solidFill>
            <a:srgbClr val="5299FE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phases, 3 weeks, one production-ready AI agent.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694944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64008" cy="694944"/>
          </a:xfrm>
          <a:prstGeom prst="rect">
            <a:avLst/>
          </a:prstGeom>
          <a:solidFill>
            <a:srgbClr val="5299FE"/>
          </a:solidFill>
          <a:ln/>
        </p:spPr>
      </p:sp>
      <p:sp>
        <p:nvSpPr>
          <p:cNvPr id="7" name="Shape 5"/>
          <p:cNvSpPr/>
          <p:nvPr/>
        </p:nvSpPr>
        <p:spPr>
          <a:xfrm>
            <a:off x="512064" y="1261872"/>
            <a:ext cx="804672" cy="201168"/>
          </a:xfrm>
          <a:prstGeom prst="rect">
            <a:avLst/>
          </a:prstGeom>
          <a:solidFill>
            <a:srgbClr val="5299FE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126187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417320" y="1207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— Backend Core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417320" y="15361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otoAIPrompts.ts — system prompt + guardrails  ·  otoAITools.ts — 6 READ-only tools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43400" y="1261872"/>
            <a:ext cx="0" cy="512064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22529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529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26280" y="14264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answers 'What cars do I have?' with real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938528"/>
            <a:ext cx="8412480" cy="694944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938528"/>
            <a:ext cx="64008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" y="2029968"/>
            <a:ext cx="804672" cy="201168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" y="202996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19751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— Booking Creation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17320" y="23042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create_booking tool with auth validation  ·  update_booking (reschedule only, no delete)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43400" y="2029968"/>
            <a:ext cx="0" cy="512064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199339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2628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booking flow end-to-end in Convex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706624"/>
            <a:ext cx="8412480" cy="694944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706624"/>
            <a:ext cx="64008" cy="6949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512064" y="2798064"/>
            <a:ext cx="804672" cy="201168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" y="279806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41732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 — Frontend Integration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417320" y="30723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processUserMessage() → Convex action  ·  Handle all action types (show_mechanics, etc.)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343400" y="2798064"/>
            <a:ext cx="0" cy="512064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276148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26280" y="29626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completes booking from AI tab, no scenario engine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474720"/>
            <a:ext cx="8412480" cy="694944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474720"/>
            <a:ext cx="64008" cy="69494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Shape 32"/>
          <p:cNvSpPr/>
          <p:nvPr/>
        </p:nvSpPr>
        <p:spPr>
          <a:xfrm>
            <a:off x="512064" y="3566160"/>
            <a:ext cx="804672" cy="201168"/>
          </a:xfrm>
          <a:prstGeom prst="rect">
            <a:avLst/>
          </a:prstGeom>
          <a:solidFill>
            <a:srgbClr val="14B8A6">
              <a:alpha val="7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" y="356616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417320" y="35112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 — Agent Pipeline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417320" y="38404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agentTools.ts + write_fields handler  ·  agentPipeline.ts orchestrator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343400" y="3566160"/>
            <a:ext cx="0" cy="512064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26280" y="352958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526280" y="3730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agent pipeline live, v3 retired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242816"/>
            <a:ext cx="8412480" cy="694944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5760" y="4242816"/>
            <a:ext cx="64008" cy="6949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Shape 41"/>
          <p:cNvSpPr/>
          <p:nvPr/>
        </p:nvSpPr>
        <p:spPr>
          <a:xfrm>
            <a:off x="512064" y="4334256"/>
            <a:ext cx="804672" cy="201168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12064" y="433425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417320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5 — Safety &amp; Polish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417320" y="46085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detection  ·  Topic guardrail + competitor block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343400" y="4334256"/>
            <a:ext cx="0" cy="512064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26280" y="42976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526280" y="4498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security + quality gates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Oto AI Agent — OtoPair Engineering</dc:title>
  <dc:subject>PptxGenJS Presentation</dc:subject>
  <dc:creator>AppFlow Studios</dc:creator>
  <cp:lastModifiedBy>AppFlow Studios</cp:lastModifiedBy>
  <cp:revision>1</cp:revision>
  <dcterms:created xsi:type="dcterms:W3CDTF">2026-04-16T23:01:30Z</dcterms:created>
  <dcterms:modified xsi:type="dcterms:W3CDTF">2026-04-16T23:01:30Z</dcterms:modified>
</cp:coreProperties>
</file>